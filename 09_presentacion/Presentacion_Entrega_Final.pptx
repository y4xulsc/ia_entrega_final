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2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AFAFA"/>
                </a:solidFill>
              </a:rPr>
              <a:t>Sistema Integral de IA Agrícola — Café Colombia</a:t>
            </a:r>
          </a:p>
          <a:p>
            <a:pPr algn="ctr"/>
            <a:r>
              <a:rPr sz="2800">
                <a:solidFill>
                  <a:srgbClr val="D4A060"/>
                </a:solidFill>
              </a:rPr>
              <a:t>Entrega Final · ML · DL · CNN · Transformers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AFAFA"/>
                </a:solidFill>
              </a:rPr>
              <a:t>Yáxul Santiago Cárdenas · Yesenia Díaz Urrego
Universidad Autónoma de Occidente · IA 2026-1 · 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2800" b="1">
                <a:solidFill>
                  <a:srgbClr val="FAFAFA"/>
                </a:solidFill>
              </a:rPr>
              <a:t>Recap: dónde estábamos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ML Precio (Ridge)</a:t>
            </a:r>
            <a:r>
              <a:t> — </a:t>
            </a:r>
            <a:r>
              <a:rPr sz="1600"/>
              <a:t>R²=0.945, MAPE=4.3% — excelente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ML Rendimiento (Stacking)</a:t>
            </a:r>
            <a:r>
              <a:t> — </a:t>
            </a:r>
            <a:r>
              <a:rPr sz="1600"/>
              <a:t>R²=0.067 — limitado por pocos datos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DL Series Tiempo (BiGRU)</a:t>
            </a:r>
            <a:r>
              <a:t> — </a:t>
            </a:r>
            <a:r>
              <a:rPr sz="1600"/>
              <a:t>R²=−2.12 — surge 2024-2025 fuera de distribución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CNN Enfermedades (EffNet)</a:t>
            </a:r>
            <a:r>
              <a:t> — </a:t>
            </a:r>
            <a:r>
              <a:rPr sz="1600"/>
              <a:t>Acc=48.9% — solo 47 imágenes CALIBRO</a:t>
            </a:r>
          </a:p>
          <a:p>
            <a:pPr>
              <a:spcAft>
                <a:spcPts val="800"/>
              </a:spcAft>
            </a:pPr>
            <a:r>
              <a:rPr sz="1800"/>
              <a:t>▸ Hipótesis del equipo: el problema es FALTA DE DATOS, no metodología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2800" b="1">
                <a:solidFill>
                  <a:srgbClr val="FAFAFA"/>
                </a:solidFill>
              </a:rPr>
              <a:t>Qué hicimos en la entrega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▸ Ampliamos imágenes 47 → ~10000 (RoCoLe + BRACOL + JMuBEN + CALIBRO)</a:t>
            </a:r>
          </a:p>
          <a:p>
            <a:pPr>
              <a:spcAft>
                <a:spcPts val="800"/>
              </a:spcAft>
            </a:pPr>
            <a:r>
              <a:rPr sz="1800"/>
              <a:t>▸ Extendimos precios 2018-2025 → 1990-2026 (FRED + WB + IMF + ICO)</a:t>
            </a:r>
          </a:p>
          <a:p>
            <a:pPr>
              <a:spcAft>
                <a:spcPts val="800"/>
              </a:spcAft>
            </a:pPr>
            <a:r>
              <a:rPr sz="1800"/>
              <a:t>▸ Bajamos a granularidad municipal (DANE EVA municipal extendido)</a:t>
            </a:r>
          </a:p>
          <a:p>
            <a:pPr>
              <a:spcAft>
                <a:spcPts val="800"/>
              </a:spcAft>
            </a:pPr>
            <a:r>
              <a:rPr sz="1800"/>
              <a:t>▸ Integramos clima satelital (Open-Meteo, CHIRPS) + suelos (SoilGrids) + DEM</a:t>
            </a:r>
          </a:p>
          <a:p>
            <a:pPr>
              <a:spcAft>
                <a:spcPts val="800"/>
              </a:spcAft>
            </a:pPr>
            <a:r>
              <a:rPr sz="1800"/>
              <a:t>▸ Cubrimos las 4 unidades del syllabus de manera explícita</a:t>
            </a:r>
          </a:p>
          <a:p>
            <a:pPr>
              <a:spcAft>
                <a:spcPts val="800"/>
              </a:spcAft>
            </a:pPr>
            <a:r>
              <a:rPr sz="1800"/>
              <a:t>▸ Empaquetamos como app web Streamlit + base de datos PostgreSQL 18 +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2800" b="1">
                <a:solidFill>
                  <a:srgbClr val="FAFAFA"/>
                </a:solidFill>
              </a:rPr>
              <a:t>Cobertura Unidad I — Introducción a la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Definición</a:t>
            </a:r>
            <a:r>
              <a:t> — </a:t>
            </a:r>
            <a:r>
              <a:rPr sz="1600"/>
              <a:t>ML como nuevo paradigma de programación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Historia</a:t>
            </a:r>
            <a:r>
              <a:t> — </a:t>
            </a:r>
            <a:r>
              <a:rPr sz="1600"/>
              <a:t>AlexNet 2012 → CNN agricultura → Transformers → RAG 2024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Riesgos café</a:t>
            </a:r>
            <a:r>
              <a:t> — </a:t>
            </a:r>
            <a:r>
              <a:rPr sz="1600"/>
              <a:t>Sesgo geográfico, brecha digital rural, sobreconfianza en alertas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Oportunidades</a:t>
            </a:r>
            <a:r>
              <a:t> — </a:t>
            </a:r>
            <a:r>
              <a:rPr sz="1600"/>
              <a:t>800K familias cafeteras, $2.5B USD/año, transferencia tecnológica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Marco institucional</a:t>
            </a:r>
            <a:r>
              <a:t> — </a:t>
            </a:r>
            <a:r>
              <a:rPr sz="1600"/>
              <a:t>MADR — Dirección Cadenas Agrícolas + FNC + Cenicafé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2800" b="1">
                <a:solidFill>
                  <a:srgbClr val="FAFAFA"/>
                </a:solidFill>
              </a:rPr>
              <a:t>Cobertura Unidad II — ML Clásico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Regresión</a:t>
            </a:r>
            <a:r>
              <a:t> — </a:t>
            </a:r>
            <a:r>
              <a:rPr sz="1600"/>
              <a:t>Ridge, Lasso, RF, XGBoost, LightGBM, CatBoost, Stacking · NB02/05/09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Clasificación</a:t>
            </a:r>
            <a:r>
              <a:t> — </a:t>
            </a:r>
            <a:r>
              <a:rPr sz="1600"/>
              <a:t>Riesgo baja productividad + Severidad enfermedad · NB11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Agrupamiento</a:t>
            </a:r>
            <a:r>
              <a:t> — </a:t>
            </a:r>
            <a:r>
              <a:rPr sz="1600"/>
              <a:t>K-Means, DBSCAN, Hierarchical de municipios cafeteros · NB11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Sesgos</a:t>
            </a:r>
            <a:r>
              <a:t> — </a:t>
            </a:r>
            <a:r>
              <a:rPr sz="1600"/>
              <a:t>Fairlearn — error MAE por departamento, reweighing por clase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Aplicaciones</a:t>
            </a:r>
            <a:r>
              <a:t> — </a:t>
            </a:r>
            <a:r>
              <a:rPr sz="1600"/>
              <a:t>Predicción rendimiento, precio, clusters agroclimáticos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2800" b="1">
                <a:solidFill>
                  <a:srgbClr val="FAFAFA"/>
                </a:solidFill>
              </a:rPr>
              <a:t>Cobertura Unidad III — Redes Neuronales (NB07)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Modelo de neurona</a:t>
            </a:r>
            <a:r>
              <a:t> — </a:t>
            </a:r>
            <a:r>
              <a:rPr sz="1600"/>
              <a:t>Perceptrón simple — 1 neurona lineal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Red superficial</a:t>
            </a:r>
            <a:r>
              <a:t> — </a:t>
            </a:r>
            <a:r>
              <a:rPr sz="1600"/>
              <a:t>1 capa oculta de 32 neuronas con ReLU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Red profunda</a:t>
            </a:r>
            <a:r>
              <a:t> — </a:t>
            </a:r>
            <a:r>
              <a:rPr sz="1600"/>
              <a:t>5 capas (256→128→64→32→16) + BatchNorm + Dropout 0.3 + L2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Algoritmos training</a:t>
            </a:r>
            <a:r>
              <a:t> — </a:t>
            </a:r>
            <a:r>
              <a:rPr sz="1600"/>
              <a:t>Adam vs SGD+momentum vs RMSprop · curvas comparadas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Aplicación</a:t>
            </a:r>
            <a:r>
              <a:t> — </a:t>
            </a:r>
            <a:r>
              <a:rPr sz="1600"/>
              <a:t>Predicción rendimiento — comparado con XGBoost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Resultado</a:t>
            </a:r>
            <a:r>
              <a:t> — </a:t>
            </a:r>
            <a:r>
              <a:rPr sz="1600"/>
              <a:t>MLP profundo competitivo con XGBoost cuando hay datos suficientes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2800" b="1">
                <a:solidFill>
                  <a:srgbClr val="FAFAFA"/>
                </a:solidFill>
              </a:rPr>
              <a:t>Cobertura Unidad IV — CNN (NB08)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Inspiración biológica</a:t>
            </a:r>
            <a:r>
              <a:t> — </a:t>
            </a:r>
            <a:r>
              <a:rPr sz="1600"/>
              <a:t>V1 cortex visual, simple/complex cells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Arquitecturas</a:t>
            </a:r>
            <a:r>
              <a:t> — </a:t>
            </a:r>
            <a:r>
              <a:rPr sz="1600"/>
              <a:t>EfficientNetB0 + ResNet50 + MobileNetV2 comparados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Transfer Learning</a:t>
            </a:r>
            <a:r>
              <a:t> — </a:t>
            </a:r>
            <a:r>
              <a:rPr sz="1600"/>
              <a:t>2 fases: extracción (LR=1e-3) + fine-tuning (LR=1e-5)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Augmentation</a:t>
            </a:r>
            <a:r>
              <a:t> — </a:t>
            </a:r>
            <a:r>
              <a:rPr sz="1600"/>
              <a:t>Rotation ±30, zoom 20%, flip, brightness ±30%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Explicabilidad</a:t>
            </a:r>
            <a:r>
              <a:t> — </a:t>
            </a:r>
            <a:r>
              <a:rPr sz="1600"/>
              <a:t>Grad-CAM sobre última conv layer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Incertidumbre</a:t>
            </a:r>
            <a:r>
              <a:t> — </a:t>
            </a:r>
            <a:r>
              <a:rPr sz="1600"/>
              <a:t>MC-Dropout 100 pasadas → intervalos confianza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2800" b="1">
                <a:solidFill>
                  <a:srgbClr val="FAFAFA"/>
                </a:solidFill>
              </a:rPr>
              <a:t>Cobertura Unidad IV — Series y Transformers (NB10)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LSTM apilada</a:t>
            </a:r>
            <a:r>
              <a:t> — </a:t>
            </a:r>
            <a:r>
              <a:rPr sz="1600"/>
              <a:t>128→64 unidades con dropout 0.3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BiGRU</a:t>
            </a:r>
            <a:r>
              <a:t> — </a:t>
            </a:r>
            <a:r>
              <a:rPr sz="1600"/>
              <a:t>GRU bidireccional 64u × 2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LSTM + Atención</a:t>
            </a:r>
            <a:r>
              <a:t> — </a:t>
            </a:r>
            <a:r>
              <a:rPr sz="1600"/>
              <a:t>Mecanismo Bahdanau aditivo implementado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Transformer lite</a:t>
            </a:r>
            <a:r>
              <a:t> — </a:t>
            </a:r>
            <a:r>
              <a:rPr sz="1600"/>
              <a:t>MultiHeadAttention + FFN — TFT simplificado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Datos extendidos</a:t>
            </a:r>
            <a:r>
              <a:t> — </a:t>
            </a:r>
            <a:r>
              <a:rPr sz="1600"/>
              <a:t>432 obs (vs 60 en 2da entrega)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Walk-forward</a:t>
            </a:r>
            <a:r>
              <a:t> — </a:t>
            </a:r>
            <a:r>
              <a:rPr sz="1600"/>
              <a:t>Train ≤2018, val 2018-2022, test 2022-2026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2800" b="1">
                <a:solidFill>
                  <a:srgbClr val="FAFAFA"/>
                </a:solidFill>
              </a:rPr>
              <a:t>Cobertura Unidad IV — Generativas y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Autoencoder (NB12)</a:t>
            </a:r>
            <a:r>
              <a:t> — </a:t>
            </a:r>
            <a:r>
              <a:rPr sz="1600"/>
              <a:t>Detección de anomalías serie precios — surge 2024-2025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VAE</a:t>
            </a:r>
            <a:r>
              <a:t> — </a:t>
            </a:r>
            <a:r>
              <a:rPr sz="1600"/>
              <a:t>Variational AE con reparametrización — espacio latente coherente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GANs y Difusión</a:t>
            </a:r>
            <a:r>
              <a:t> — </a:t>
            </a:r>
            <a:r>
              <a:rPr sz="1600"/>
              <a:t>Mención conceptual con código de referencia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Embeddings</a:t>
            </a:r>
            <a:r>
              <a:t> — </a:t>
            </a:r>
            <a:r>
              <a:rPr sz="1600"/>
              <a:t>sentence-transformers/all-MiniLM-L6-v2 (multilingüe)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Vector store</a:t>
            </a:r>
            <a:r>
              <a:t> — </a:t>
            </a:r>
            <a:r>
              <a:rPr sz="1600"/>
              <a:t>ChromaDB persistente local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LLM</a:t>
            </a:r>
            <a:r>
              <a:t> — </a:t>
            </a:r>
            <a:r>
              <a:rPr sz="1600"/>
              <a:t>Llama-3.1-70B vía Groq (gratis) o Llama local vía Ollama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2800" b="1">
                <a:solidFill>
                  <a:srgbClr val="FAFAFA"/>
                </a:solidFill>
              </a:rPr>
              <a:t>Análisis de sesgos — Fairlearn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▸ MAE por departamento — Huila vs Antioquia vs Nariño (Nariño peor → menos datos)</a:t>
            </a:r>
          </a:p>
          <a:p>
            <a:pPr>
              <a:spcAft>
                <a:spcPts val="800"/>
              </a:spcAft>
            </a:pPr>
            <a:r>
              <a:rPr sz="1800"/>
              <a:t>▸ Demographic parity y equalized odds calculadas</a:t>
            </a:r>
          </a:p>
          <a:p>
            <a:pPr>
              <a:spcAft>
                <a:spcPts val="800"/>
              </a:spcAft>
            </a:pPr>
            <a:r>
              <a:rPr sz="1800"/>
              <a:t>▸ Mitigación 1: ampliar datos en regiones subrepresentadas</a:t>
            </a:r>
          </a:p>
          <a:p>
            <a:pPr>
              <a:spcAft>
                <a:spcPts val="800"/>
              </a:spcAft>
            </a:pPr>
            <a:r>
              <a:rPr sz="1800"/>
              <a:t>▸ Mitigación 2: reweighing por clase en CNN (Roya/Gotera/Cerco/Phoma/Miner/Sano)</a:t>
            </a:r>
          </a:p>
          <a:p>
            <a:pPr>
              <a:spcAft>
                <a:spcPts val="800"/>
              </a:spcAft>
            </a:pPr>
            <a:r>
              <a:rPr sz="1800"/>
              <a:t>▸ Mitigación 3: data augmentation diferencial sobre clases minoritarias</a:t>
            </a:r>
          </a:p>
          <a:p>
            <a:pPr>
              <a:spcAft>
                <a:spcPts val="800"/>
              </a:spcAft>
            </a:pPr>
            <a:r>
              <a:rPr sz="1800"/>
              <a:t>▸ Insight: sin Fairlearn los promedios ocultan disparidad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2800" b="1">
                <a:solidFill>
                  <a:srgbClr val="FAFAFA"/>
                </a:solidFill>
              </a:rPr>
              <a:t>Sistema desplegable — App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Streamlit multipágina</a:t>
            </a:r>
            <a:r>
              <a:t> — </a:t>
            </a:r>
            <a:r>
              <a:rPr sz="1600"/>
              <a:t>Dashboard, Rendimiento, Precios, Enfermedades, Chatbot, Mapa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Backend BD</a:t>
            </a:r>
            <a:r>
              <a:t> — </a:t>
            </a:r>
            <a:r>
              <a:rPr sz="1600"/>
              <a:t>PostgreSQL 18 — esquema cafe — vw_master_municipal_mensual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Containerización</a:t>
            </a:r>
            <a:r>
              <a:t> — </a:t>
            </a:r>
            <a:r>
              <a:rPr sz="1600"/>
              <a:t>Dockerfile multistage + docker-compose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Hosting gratis</a:t>
            </a:r>
            <a:r>
              <a:t> — </a:t>
            </a:r>
            <a:r>
              <a:rPr sz="1600"/>
              <a:t>HuggingFace Spaces o Streamlit Cloud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Modelos servidos</a:t>
            </a:r>
            <a:r>
              <a:t> — </a:t>
            </a:r>
            <a:r>
              <a:rPr sz="1600"/>
              <a:t>13 modelos en .pkl y .keras cargados perezosamente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RAG en vivo</a:t>
            </a:r>
            <a:r>
              <a:t> — </a:t>
            </a:r>
            <a:r>
              <a:rPr sz="1600"/>
              <a:t>Chatbot conversacional integrado en la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2800" b="1">
                <a:solidFill>
                  <a:srgbClr val="FAFAFA"/>
                </a:solidFill>
              </a:rPr>
              <a:t>Resultados esperados (con datos ampliados)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Ridge precio</a:t>
            </a:r>
            <a:r>
              <a:t> — </a:t>
            </a:r>
            <a:r>
              <a:rPr sz="1600"/>
              <a:t>Mantener R²=0.945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ML Municipal rendimiento</a:t>
            </a:r>
            <a:r>
              <a:t> — </a:t>
            </a:r>
            <a:r>
              <a:rPr sz="1600"/>
              <a:t>0.067 → R² &gt; 0.5 esperado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MLP profundo</a:t>
            </a:r>
            <a:r>
              <a:t> — </a:t>
            </a:r>
            <a:r>
              <a:rPr sz="1600"/>
              <a:t>Comparable o superior a XGBoost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BiGRU/Transformer</a:t>
            </a:r>
            <a:r>
              <a:t> — </a:t>
            </a:r>
            <a:r>
              <a:rPr sz="1600"/>
              <a:t>−2.12 → R² &gt; 0.5 esperado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CNN EfficientNetB0</a:t>
            </a:r>
            <a:r>
              <a:t> — </a:t>
            </a:r>
            <a:r>
              <a:rPr sz="1600"/>
              <a:t>Acc 48.9% → &gt; 85% esperado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E7D32"/>
                </a:solidFill>
              </a:rPr>
              <a:t>RAG</a:t>
            </a:r>
            <a:r>
              <a:t> — </a:t>
            </a:r>
            <a:r>
              <a:rPr sz="1600"/>
              <a:t>5 preguntas demo respondidas correctamente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2800" b="1">
                <a:solidFill>
                  <a:srgbClr val="FAFAFA"/>
                </a:solidFill>
              </a:rPr>
              <a:t>Limitaciones honestas y trabajo futuro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▸ Datasets de imágenes son foráneos (Brasil/Ecuador) — captura propia colombiana pendiente</a:t>
            </a:r>
          </a:p>
          <a:p>
            <a:pPr>
              <a:spcAft>
                <a:spcPts val="800"/>
              </a:spcAft>
            </a:pPr>
            <a:r>
              <a:rPr sz="1800"/>
              <a:t>▸ Resolución municipal aún limitada en municipios con pocas observaciones</a:t>
            </a:r>
          </a:p>
          <a:p>
            <a:pPr>
              <a:spcAft>
                <a:spcPts val="800"/>
              </a:spcAft>
            </a:pPr>
            <a:r>
              <a:rPr sz="1800"/>
              <a:t>▸ Modelos de series no extrapolan eventos atípicos (surge 2024-2025)</a:t>
            </a:r>
          </a:p>
          <a:p>
            <a:pPr>
              <a:spcAft>
                <a:spcPts val="800"/>
              </a:spcAft>
            </a:pPr>
            <a:r>
              <a:rPr sz="1800"/>
              <a:t>▸ Trabajo futuro 1: Temporal Fusion Transformer completo con covariables conocidas/no</a:t>
            </a:r>
          </a:p>
          <a:p>
            <a:pPr>
              <a:spcAft>
                <a:spcPts val="800"/>
              </a:spcAft>
            </a:pPr>
            <a:r>
              <a:rPr sz="1800"/>
              <a:t>▸ Trabajo futuro 2: Versión móvil offline para detección en finca</a:t>
            </a:r>
          </a:p>
          <a:p>
            <a:pPr>
              <a:spcAft>
                <a:spcPts val="800"/>
              </a:spcAft>
            </a:pPr>
            <a:r>
              <a:rPr sz="1800"/>
              <a:t>▸ Trabajo futuro 3: Validación operacional con MADR + extensionistas FNC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2800" b="1">
                <a:solidFill>
                  <a:srgbClr val="FAFAFA"/>
                </a:solidFill>
              </a:rPr>
              <a:t>Cierre y agradecimientos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▸ Sistema cubre las 4 unidades del syllabus de manera explícita y desplegable</a:t>
            </a:r>
          </a:p>
          <a:p>
            <a:pPr>
              <a:spcAft>
                <a:spcPts val="800"/>
              </a:spcAft>
            </a:pPr>
            <a:r>
              <a:rPr sz="1800"/>
              <a:t>▸ Resuelve los 4 limitantes identificados en la 2da entrega</a:t>
            </a:r>
          </a:p>
          <a:p>
            <a:pPr>
              <a:spcAft>
                <a:spcPts val="800"/>
              </a:spcAft>
            </a:pPr>
            <a:r>
              <a:rPr sz="1800"/>
              <a:t>▸ Datos, modelos, BD, app web, agente RAG y Docker — todo entregable</a:t>
            </a:r>
          </a:p>
          <a:p>
            <a:pPr>
              <a:spcAft>
                <a:spcPts val="800"/>
              </a:spcAft>
            </a:pPr>
            <a:r>
              <a:rPr sz="1800"/>
              <a:t>▸ Documento académico + script presentación + Q&amp;A anticipado en repositorio</a:t>
            </a:r>
          </a:p>
          <a:p>
            <a:pPr>
              <a:spcAft>
                <a:spcPts val="800"/>
              </a:spcAft>
            </a:pPr>
            <a:r>
              <a:rPr sz="1800"/>
              <a:t>▸ Gracias al equipo, al docente y a las fuentes públicas que alimentan 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